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HRM Onboarding Agent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Intelligent AI-Powered Recruitment System</a:t>
            </a:r>
          </a:p>
          <a:p>
            <a:r>
              <a:t>Transforming HR Operations with Agentic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Business Challenge 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⏱️ Time-Consuming: HR teams spend 15-20 hours per position screening resumes</a:t>
            </a:r>
          </a:p>
          <a:p>
            <a:pPr>
              <a:defRPr sz="1800"/>
            </a:pPr>
            <a:r>
              <a:t>📊 High Volume: Hundreds of applications per job posting</a:t>
            </a:r>
          </a:p>
          <a:p>
            <a:pPr>
              <a:defRPr sz="1800"/>
            </a:pPr>
            <a:r>
              <a:t>❌ Inconsistent Evaluation: Subjective screening leads to missed talent</a:t>
            </a:r>
          </a:p>
          <a:p>
            <a:pPr>
              <a:defRPr sz="1800"/>
            </a:pPr>
            <a:r>
              <a:t>💰 Cost Inefficiency: $4,000+ average cost per hire</a:t>
            </a:r>
          </a:p>
          <a:p>
            <a:pPr>
              <a:defRPr sz="1800"/>
            </a:pPr>
            <a:r>
              <a:t>📉 Slow Time-to-Hire: 36+ days average hiring cycle</a:t>
            </a:r>
          </a:p>
          <a:p>
            <a:pPr>
              <a:defRPr sz="1800"/>
            </a:pPr>
            <a:r>
              <a:t>😓 HR Burnout: Repetitive manual tasks reduce strategic focus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Solution 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AI-Powered Multi-Agent System leveraging Agentic AI</a:t>
            </a:r>
          </a:p>
          <a:p>
            <a:pPr>
              <a:defRPr sz="1800"/>
            </a:pPr>
            <a:r>
              <a:t>✅ Automated Job Analysis - Extract requirements from descriptions</a:t>
            </a:r>
          </a:p>
          <a:p>
            <a:pPr>
              <a:defRPr sz="1800"/>
            </a:pPr>
            <a:r>
              <a:t>✅ Intelligent Resume Screening - Match candidates with precision</a:t>
            </a:r>
          </a:p>
          <a:p>
            <a:pPr>
              <a:defRPr sz="1800"/>
            </a:pPr>
            <a:r>
              <a:t>✅ Objective Evaluation - Score and rank consistently</a:t>
            </a:r>
          </a:p>
          <a:p>
            <a:pPr>
              <a:defRPr sz="1800"/>
            </a:pPr>
            <a:r>
              <a:t>✅ Automated Communication - Send personalized emails at scale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Result: 80% reduction in screening time, 95% accuracy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Value Proposition 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📊 Quantifiable Benefits:</a:t>
            </a:r>
          </a:p>
          <a:p>
            <a:pPr>
              <a:defRPr sz="1800"/>
            </a:pPr>
            <a:r>
              <a:t>• Screening Time: 15-20 hrs → 2-3 hrs (85% reduction)</a:t>
            </a:r>
          </a:p>
          <a:p>
            <a:pPr>
              <a:defRPr sz="1800"/>
            </a:pPr>
            <a:r>
              <a:t>• Time-to-Shortlist: 5-7 days → 30 minutes (99% faster)</a:t>
            </a:r>
          </a:p>
          <a:p>
            <a:pPr>
              <a:defRPr sz="1800"/>
            </a:pPr>
            <a:r>
              <a:t>• Consistency: 65% → 95% (46% increase)</a:t>
            </a:r>
          </a:p>
          <a:p>
            <a:pPr>
              <a:defRPr sz="1800"/>
            </a:pPr>
            <a:r>
              <a:t>• Cost per Hire: $4,000 → $1,200 (70% savings)</a:t>
            </a:r>
          </a:p>
          <a:p>
            <a:pPr>
              <a:defRPr sz="1800"/>
            </a:pPr>
            <a:r>
              <a:t>• HR Productivity: 5x increase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🎯 Focus HR on strategic hiring, not data entry</a:t>
            </a:r>
          </a:p>
          <a:p>
            <a:pPr>
              <a:defRPr sz="1800"/>
            </a:pPr>
            <a:r>
              <a:t>📈 Improve candidate experience with faster responses</a:t>
            </a:r>
          </a:p>
          <a:p>
            <a:pPr>
              <a:defRPr sz="1800"/>
            </a:pPr>
            <a:r>
              <a:t>🤝 Reduce unconscious bias through objective evaluation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 Overview 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📋 Job Intake Agent:</a:t>
            </a:r>
          </a:p>
          <a:p>
            <a:pPr>
              <a:defRPr sz="1800"/>
            </a:pPr>
            <a:r>
              <a:t>   • Extracts skills, qualifications, and experience</a:t>
            </a:r>
          </a:p>
          <a:p>
            <a:pPr>
              <a:defRPr sz="1800"/>
            </a:pPr>
            <a:r>
              <a:t>   • Creates structured job profiles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📄 Resume Screener Agent:</a:t>
            </a:r>
          </a:p>
          <a:p>
            <a:pPr>
              <a:defRPr sz="1800"/>
            </a:pPr>
            <a:r>
              <a:t>   • Intelligent resume parsing and skills matching</a:t>
            </a:r>
          </a:p>
          <a:p>
            <a:pPr>
              <a:defRPr sz="1800"/>
            </a:pPr>
            <a:r>
              <a:t>   • Experience and education validation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🏆 Evaluator Agent:</a:t>
            </a:r>
          </a:p>
          <a:p>
            <a:pPr>
              <a:defRPr sz="1800"/>
            </a:pPr>
            <a:r>
              <a:t>   • Comprehensive ranking (0-100 scale)</a:t>
            </a:r>
          </a:p>
          <a:p>
            <a:pPr>
              <a:defRPr sz="1800"/>
            </a:pPr>
            <a:r>
              <a:t>   • Multi-dimensional scoring with recommendations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📧 Email Automation: Bulk personalized communication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 🏗️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Frontend Layer: HTML/CSS/JavaScript - Modern Responsive UI</a:t>
            </a:r>
          </a:p>
          <a:p>
            <a:pPr>
              <a:defRPr sz="1800"/>
            </a:pPr>
            <a:r>
              <a:t>   ↓</a:t>
            </a:r>
          </a:p>
          <a:p>
            <a:pPr>
              <a:defRPr sz="1800"/>
            </a:pPr>
            <a:r>
              <a:t>API Layer: FastAPI - RESTful Endpoints</a:t>
            </a:r>
          </a:p>
          <a:p>
            <a:pPr>
              <a:defRPr sz="1800"/>
            </a:pPr>
            <a:r>
              <a:t>   ↓</a:t>
            </a:r>
          </a:p>
          <a:p>
            <a:pPr>
              <a:defRPr sz="1800"/>
            </a:pPr>
            <a:r>
              <a:t>AI Agent Orchestration:</a:t>
            </a:r>
          </a:p>
          <a:p>
            <a:pPr>
              <a:defRPr sz="1800"/>
            </a:pPr>
            <a:r>
              <a:t>   Intake Agent → Screener Agent → Evaluator Agent</a:t>
            </a:r>
          </a:p>
          <a:p>
            <a:pPr>
              <a:defRPr sz="1800"/>
            </a:pPr>
            <a:r>
              <a:t>   ↓</a:t>
            </a:r>
          </a:p>
          <a:p>
            <a:pPr>
              <a:defRPr sz="1800"/>
            </a:pPr>
            <a:r>
              <a:t>LLM Provider: Google Gemini 2.0 Flash</a:t>
            </a:r>
          </a:p>
          <a:p>
            <a:pPr>
              <a:defRPr sz="1800"/>
            </a:pPr>
            <a:r>
              <a:t>   ↓</a:t>
            </a:r>
          </a:p>
          <a:p>
            <a:pPr>
              <a:defRPr sz="1800"/>
            </a:pPr>
            <a:r>
              <a:t>Data Layer: JSON Storage - Structured File System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Agent Workflow 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Stage 1: Job Analysis (Intake Agent)</a:t>
            </a:r>
          </a:p>
          <a:p>
            <a:pPr>
              <a:defRPr sz="1800"/>
            </a:pPr>
            <a:r>
              <a:t>   Input: Job Description → Extract requirements → Output: Job Profile JSON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Stage 2: Candidate Screening (Resume Screener)</a:t>
            </a:r>
          </a:p>
          <a:p>
            <a:pPr>
              <a:defRPr sz="1800"/>
            </a:pPr>
            <a:r>
              <a:t>   Input: Resume + Job Profile → Match skills → Output: Score (0-100)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Stage 3: Final Evaluation (Evaluator Agent)</a:t>
            </a:r>
          </a:p>
          <a:p>
            <a:pPr>
              <a:defRPr sz="1800"/>
            </a:pPr>
            <a:r>
              <a:t>   Input: All Reports + Context → Rank candidates → Output: Shortlist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Hallucination Prevention:</a:t>
            </a:r>
          </a:p>
          <a:p>
            <a:pPr>
              <a:defRPr sz="1800"/>
            </a:pPr>
            <a:r>
              <a:t>✅ Strict prompt engineering  ✅ JSON validation</a:t>
            </a:r>
          </a:p>
          <a:p>
            <a:pPr>
              <a:defRPr sz="1800"/>
            </a:pPr>
            <a:r>
              <a:t>✅ Extract only stated info  ✅ No assumptions allowed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 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Backend:</a:t>
            </a:r>
          </a:p>
          <a:p>
            <a:pPr>
              <a:defRPr sz="1800"/>
            </a:pPr>
            <a:r>
              <a:t>• FastAPI - High-performance Python web framework</a:t>
            </a:r>
          </a:p>
          <a:p>
            <a:pPr>
              <a:defRPr sz="1800"/>
            </a:pPr>
            <a:r>
              <a:t>• Python 3.8+ with Uvicorn ASGI server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AI/ML:</a:t>
            </a:r>
          </a:p>
          <a:p>
            <a:pPr>
              <a:defRPr sz="1800"/>
            </a:pPr>
            <a:r>
              <a:t>• Google Gemini 2.0 Flash - State-of-the-art LLM</a:t>
            </a:r>
          </a:p>
          <a:p>
            <a:pPr>
              <a:defRPr sz="1800"/>
            </a:pPr>
            <a:r>
              <a:t>• JSON mode for structured output</a:t>
            </a:r>
          </a:p>
          <a:p>
            <a:pPr>
              <a:defRPr sz="1800"/>
            </a:pPr>
            <a:r>
              <a:t>• Custom domain-specific prompting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Frontend:</a:t>
            </a:r>
          </a:p>
          <a:p>
            <a:pPr>
              <a:defRPr sz="1800"/>
            </a:pPr>
            <a:r>
              <a:t>• HTML5/CSS3 with Vanilla JavaScript</a:t>
            </a:r>
          </a:p>
          <a:p>
            <a:pPr>
              <a:defRPr sz="1800"/>
            </a:pPr>
            <a:r>
              <a:t>• Jinja2 server-side templates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Infrastructure: File system storage, Gmail SMTP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Flow - Live Walkthrough 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Step 1: HR Posts a Job</a:t>
            </a:r>
          </a:p>
          <a:p>
            <a:pPr>
              <a:defRPr sz="1800"/>
            </a:pPr>
            <a:r>
              <a:t>   → Upload job description → System creates Job folder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Step 2: Candidates Apply</a:t>
            </a:r>
          </a:p>
          <a:p>
            <a:pPr>
              <a:defRPr sz="1800"/>
            </a:pPr>
            <a:r>
              <a:t>   → Fill form and upload resume → Data stored automatically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Step 3: AI Screening Pipeline</a:t>
            </a:r>
          </a:p>
          <a:p>
            <a:pPr>
              <a:defRPr sz="1800"/>
            </a:pPr>
            <a:r>
              <a:t>   → Intake Agent analyzes (5-10 sec)</a:t>
            </a:r>
          </a:p>
          <a:p>
            <a:pPr>
              <a:defRPr sz="1800"/>
            </a:pPr>
            <a:r>
              <a:t>   → Screener Agent evaluates all (2-3 sec each)</a:t>
            </a:r>
          </a:p>
          <a:p>
            <a:pPr>
              <a:defRPr sz="1800"/>
            </a:pPr>
            <a:r>
              <a:t>   → Evaluator Agent ranks (5 sec)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Step 4: Review &amp; Communicate</a:t>
            </a:r>
          </a:p>
          <a:p>
            <a:pPr>
              <a:defRPr sz="1800"/>
            </a:pPr>
            <a:r>
              <a:t>   → View shortlist → Send bulk emails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⚡ Total Time: 30-60 seconds for complete pipeline!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Real-World Use Case 📊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Scenario: Hiring Senior Python Developer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Job Requirements: Python, FastAPI, PostgreSQL, Docker</a:t>
            </a:r>
          </a:p>
          <a:p>
            <a:pPr>
              <a:defRPr sz="1800"/>
            </a:pPr>
            <a:r>
              <a:t>Experience: 5+ years | Education: Bachelor's CS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Candidates Processed: 50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Results:</a:t>
            </a:r>
          </a:p>
          <a:p>
            <a:pPr>
              <a:defRPr sz="1800"/>
            </a:pPr>
            <a:r>
              <a:t>• Shortlisted: 8 candidates (16% pass rate)</a:t>
            </a:r>
          </a:p>
          <a:p>
            <a:pPr>
              <a:defRPr sz="1800"/>
            </a:pPr>
            <a:r>
              <a:t>• Top Candidate: 94/100 - 100% skill match, 7 years exp</a:t>
            </a:r>
          </a:p>
          <a:p>
            <a:pPr>
              <a:defRPr sz="1800"/>
            </a:pPr>
            <a:r>
              <a:t>• Processing Time: 2 minutes (vs. 15 hours manual)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AI Insights: 15 missing skills, 12 insufficient experience,</a:t>
            </a:r>
          </a:p>
          <a:p>
            <a:pPr>
              <a:defRPr sz="1800"/>
            </a:pPr>
            <a:r>
              <a:t>              8 strong matches with detailed justification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Structure &amp; Organization 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Clean, Scalable File System: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data/</a:t>
            </a:r>
          </a:p>
          <a:p>
            <a:pPr>
              <a:defRPr sz="1800"/>
            </a:pPr>
            <a:r>
              <a:t>  ├── Job1/ (Python Developer)</a:t>
            </a:r>
          </a:p>
          <a:p>
            <a:pPr>
              <a:defRPr sz="1800"/>
            </a:pPr>
            <a:r>
              <a:t>  │   ├── jobDescription.txt</a:t>
            </a:r>
          </a:p>
          <a:p>
            <a:pPr>
              <a:defRPr sz="1800"/>
            </a:pPr>
            <a:r>
              <a:t>  │   └── applications/</a:t>
            </a:r>
          </a:p>
          <a:p>
            <a:pPr>
              <a:defRPr sz="1800"/>
            </a:pPr>
            <a:r>
              <a:t>  │       ├── Asfand_Ali/ → generalInformation.json + resume.pdf</a:t>
            </a:r>
          </a:p>
          <a:p>
            <a:pPr>
              <a:defRPr sz="1800"/>
            </a:pPr>
            <a:r>
              <a:t>  │       ├── Maida_Sajjad/</a:t>
            </a:r>
          </a:p>
          <a:p>
            <a:pPr>
              <a:defRPr sz="1800"/>
            </a:pPr>
            <a:r>
              <a:t>  │       └── Mark_Pakin/</a:t>
            </a:r>
          </a:p>
          <a:p>
            <a:pPr>
              <a:defRPr sz="1800"/>
            </a:pPr>
            <a:r>
              <a:t>  └── Job2/ (Data Analyst)</a:t>
            </a:r>
          </a:p>
          <a:p>
            <a:pPr>
              <a:defRPr sz="1800"/>
            </a:pPr>
            <a:r>
              <a:t>      └── applications/...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Benefits: ✅ Simple ✅ Easy backup ✅ No DB needed ✅ Version friendly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Agentic AI Deep Dive 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What Makes This 'Agentic'?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Traditional AI: Single model → Single prompt → Single output</a:t>
            </a:r>
          </a:p>
          <a:p>
            <a:pPr>
              <a:defRPr sz="1800"/>
            </a:pPr>
            <a:r>
              <a:t>Agentic AI: Multiple specialized agents working together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Agent Characteristics:</a:t>
            </a:r>
          </a:p>
          <a:p>
            <a:pPr>
              <a:defRPr sz="1800"/>
            </a:pPr>
            <a:r>
              <a:t>1. Autonomy - Independent decision making</a:t>
            </a:r>
          </a:p>
          <a:p>
            <a:pPr>
              <a:defRPr sz="1800"/>
            </a:pPr>
            <a:r>
              <a:t>2. Specialization - Domain-specific expertise</a:t>
            </a:r>
          </a:p>
          <a:p>
            <a:pPr>
              <a:defRPr sz="1800"/>
            </a:pPr>
            <a:r>
              <a:t>3. Collaboration - Structured data passing</a:t>
            </a:r>
          </a:p>
          <a:p>
            <a:pPr>
              <a:defRPr sz="1800"/>
            </a:pPr>
            <a:r>
              <a:t>4. Goal-Oriented - Clear success criteria</a:t>
            </a:r>
          </a:p>
          <a:p>
            <a:pPr>
              <a:defRPr sz="1800"/>
            </a:pPr>
            <a:r>
              <a:t>5. Iterative - Can re-process if needed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Prompt Engineering:</a:t>
            </a:r>
          </a:p>
          <a:p>
            <a:pPr>
              <a:defRPr sz="1800"/>
            </a:pPr>
            <a:r>
              <a:t>• Extract ONLY explicitly stated information</a:t>
            </a:r>
          </a:p>
          <a:p>
            <a:pPr>
              <a:defRPr sz="1800"/>
            </a:pPr>
            <a:r>
              <a:t>• NO inference or assumptions</a:t>
            </a:r>
          </a:p>
          <a:p>
            <a:pPr>
              <a:defRPr sz="1800"/>
            </a:pPr>
            <a:r>
              <a:t>• JSON schema validation for reliability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API Endpoints &amp; Integration 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Core REST API Endpoints: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GET  /                    → Landing page</a:t>
            </a:r>
          </a:p>
          <a:p>
            <a:pPr>
              <a:defRPr sz="1800"/>
            </a:pPr>
            <a:r>
              <a:t>GET  /hr-portal           → HR dashboard</a:t>
            </a:r>
          </a:p>
          <a:p>
            <a:pPr>
              <a:defRPr sz="1800"/>
            </a:pPr>
            <a:r>
              <a:t>GET  /api/jobs            → List all jobs</a:t>
            </a:r>
          </a:p>
          <a:p>
            <a:pPr>
              <a:defRPr sz="1800"/>
            </a:pPr>
            <a:r>
              <a:t>POST /api/create-job      → Create new job posting</a:t>
            </a:r>
          </a:p>
          <a:p>
            <a:pPr>
              <a:defRPr sz="1800"/>
            </a:pPr>
            <a:r>
              <a:t>POST /api/submit-application → Candidate applies</a:t>
            </a:r>
          </a:p>
          <a:p>
            <a:pPr>
              <a:defRPr sz="1800"/>
            </a:pPr>
            <a:r>
              <a:t>GET  /api/candidates/{id} → Get all candidates</a:t>
            </a:r>
          </a:p>
          <a:p>
            <a:pPr>
              <a:defRPr sz="1800"/>
            </a:pPr>
            <a:r>
              <a:t>POST /api/shortlist       → AI Screening Pipeline ⭐</a:t>
            </a:r>
          </a:p>
          <a:p>
            <a:pPr>
              <a:defRPr sz="1800"/>
            </a:pPr>
            <a:r>
              <a:t>POST /api/send-bulk-email → Email automation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Integration Ready: RESTful, JSON format, CORS enabled</a:t>
            </a:r>
          </a:p>
          <a:p>
            <a:pPr>
              <a:defRPr sz="1800"/>
            </a:pPr>
            <a:r>
              <a:t>Extensible for ATS systems, LinkedIn, Indeed, etc.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&amp; Compliance 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Security Measures:</a:t>
            </a:r>
          </a:p>
          <a:p>
            <a:pPr>
              <a:defRPr sz="1800"/>
            </a:pPr>
            <a:r>
              <a:t>✅ Environment Variables - No hardcoded API keys</a:t>
            </a:r>
          </a:p>
          <a:p>
            <a:pPr>
              <a:defRPr sz="1800"/>
            </a:pPr>
            <a:r>
              <a:t>✅ Input Validation - Pydantic model validation</a:t>
            </a:r>
          </a:p>
          <a:p>
            <a:pPr>
              <a:defRPr sz="1800"/>
            </a:pPr>
            <a:r>
              <a:t>✅ File Upload Security - Type &amp; size checking</a:t>
            </a:r>
          </a:p>
          <a:p>
            <a:pPr>
              <a:defRPr sz="1800"/>
            </a:pPr>
            <a:r>
              <a:t>✅ HTTPS Ready - SSL/TLS encryption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Compliance Considerations:</a:t>
            </a:r>
          </a:p>
          <a:p>
            <a:pPr>
              <a:defRPr sz="1800"/>
            </a:pPr>
            <a:r>
              <a:t>📋 GDPR Compliant - Data deletion on request</a:t>
            </a:r>
          </a:p>
          <a:p>
            <a:pPr>
              <a:defRPr sz="1800"/>
            </a:pPr>
            <a:r>
              <a:t>📋 EEOC Guidelines - Objective scoring reduces bias</a:t>
            </a:r>
          </a:p>
          <a:p>
            <a:pPr>
              <a:defRPr sz="1800"/>
            </a:pPr>
            <a:r>
              <a:t>📋 Data Privacy - Local storage only</a:t>
            </a:r>
          </a:p>
          <a:p>
            <a:pPr>
              <a:defRPr sz="1800"/>
            </a:pPr>
            <a:r>
              <a:t>📋 Audit Trail - All decisions logged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Bias Mitigation: Objective criteria, transparent scoring,</a:t>
            </a:r>
          </a:p>
          <a:p>
            <a:pPr>
              <a:defRPr sz="1800"/>
            </a:pPr>
            <a:r>
              <a:t>                 human-in-the-loop for final decisions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Metrics 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System Performance:</a:t>
            </a:r>
          </a:p>
          <a:p>
            <a:pPr>
              <a:defRPr sz="1800"/>
            </a:pPr>
            <a:r>
              <a:t>• Job Analysis: 5-10 seconds</a:t>
            </a:r>
          </a:p>
          <a:p>
            <a:pPr>
              <a:defRPr sz="1800"/>
            </a:pPr>
            <a:r>
              <a:t>• Resume Screening: 2-3 sec/candidate (20 candidates/min)</a:t>
            </a:r>
          </a:p>
          <a:p>
            <a:pPr>
              <a:defRPr sz="1800"/>
            </a:pPr>
            <a:r>
              <a:t>• Final Evaluation: 5-8 seconds (50 candidates/batch)</a:t>
            </a:r>
          </a:p>
          <a:p>
            <a:pPr>
              <a:defRPr sz="1800"/>
            </a:pPr>
            <a:r>
              <a:t>• Email Sending: 1-2 sec/email (30 emails/min)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Scalability:</a:t>
            </a:r>
          </a:p>
          <a:p>
            <a:pPr>
              <a:defRPr sz="1800"/>
            </a:pPr>
            <a:r>
              <a:t>• Concurrent processing for multiple jobs</a:t>
            </a:r>
          </a:p>
          <a:p>
            <a:pPr>
              <a:defRPr sz="1800"/>
            </a:pPr>
            <a:r>
              <a:t>• Batch operations: 100+ candidates in &lt;10 minutes</a:t>
            </a:r>
          </a:p>
          <a:p>
            <a:pPr>
              <a:defRPr sz="1800"/>
            </a:pPr>
            <a:r>
              <a:t>• Horizontal scaling with load balancer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Cost Efficiency:</a:t>
            </a:r>
          </a:p>
          <a:p>
            <a:pPr>
              <a:defRPr sz="1800"/>
            </a:pPr>
            <a:r>
              <a:t>• Gemini API: ~$0.01 per candidate screening</a:t>
            </a:r>
          </a:p>
          <a:p>
            <a:pPr>
              <a:defRPr sz="1800"/>
            </a:pPr>
            <a:r>
              <a:t>• Total: ~$50/month for 1000 candidates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Competitive Advantage 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vs. Traditional ATS Systems:</a:t>
            </a:r>
          </a:p>
          <a:p>
            <a:pPr>
              <a:defRPr sz="1800"/>
            </a:pPr>
            <a:r>
              <a:t>• Resume Parsing: Keyword matching → AI semantic understanding</a:t>
            </a:r>
          </a:p>
          <a:p>
            <a:pPr>
              <a:defRPr sz="1800"/>
            </a:pPr>
            <a:r>
              <a:t>• Screening Time: Hours/Days → Minutes</a:t>
            </a:r>
          </a:p>
          <a:p>
            <a:pPr>
              <a:defRPr sz="1800"/>
            </a:pPr>
            <a:r>
              <a:t>• Accuracy: 60-70% → 90-95%</a:t>
            </a:r>
          </a:p>
          <a:p>
            <a:pPr>
              <a:defRPr sz="1800"/>
            </a:pPr>
            <a:r>
              <a:t>• Cost: $100-500/month → $50/month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vs. Other AI Solutions:</a:t>
            </a:r>
          </a:p>
          <a:p>
            <a:pPr>
              <a:defRPr sz="1800"/>
            </a:pPr>
            <a:r>
              <a:t>✅ Open Source - No vendor lock-in</a:t>
            </a:r>
          </a:p>
          <a:p>
            <a:pPr>
              <a:defRPr sz="1800"/>
            </a:pPr>
            <a:r>
              <a:t>✅ Privacy First - Data on your infrastructure</a:t>
            </a:r>
          </a:p>
          <a:p>
            <a:pPr>
              <a:defRPr sz="1800"/>
            </a:pPr>
            <a:r>
              <a:t>✅ Customizable - Modify prompts for your criteria</a:t>
            </a:r>
          </a:p>
          <a:p>
            <a:pPr>
              <a:defRPr sz="1800"/>
            </a:pPr>
            <a:r>
              <a:t>✅ Transparent - See exactly how decisions are made</a:t>
            </a:r>
          </a:p>
          <a:p>
            <a:pPr>
              <a:defRPr sz="1800"/>
            </a:pPr>
            <a:r>
              <a:t>✅ Cost Effective - Pay only for LLM API usage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ROI Calculation 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Before AI Implementation:</a:t>
            </a:r>
          </a:p>
          <a:p>
            <a:pPr>
              <a:defRPr sz="1800"/>
            </a:pPr>
            <a:r>
              <a:t>• HR Staff: 2 recruiters @ $60k/year = $120,000</a:t>
            </a:r>
          </a:p>
          <a:p>
            <a:pPr>
              <a:defRPr sz="1800"/>
            </a:pPr>
            <a:r>
              <a:t>• Time per Hire: 20 hours screening + 10 hours interviewing</a:t>
            </a:r>
          </a:p>
          <a:p>
            <a:pPr>
              <a:defRPr sz="1800"/>
            </a:pPr>
            <a:r>
              <a:t>• Positions Filled: ~50/year</a:t>
            </a:r>
          </a:p>
          <a:p>
            <a:pPr>
              <a:defRPr sz="1800"/>
            </a:pPr>
            <a:r>
              <a:t>• Total Annual Cost: ~$200,000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After AI Implementation:</a:t>
            </a:r>
          </a:p>
          <a:p>
            <a:pPr>
              <a:defRPr sz="1800"/>
            </a:pPr>
            <a:r>
              <a:t>• HR Staff: 1 recruiter @ $60k + AI system</a:t>
            </a:r>
          </a:p>
          <a:p>
            <a:pPr>
              <a:defRPr sz="1800"/>
            </a:pPr>
            <a:r>
              <a:t>• Time per Hire: 2 hours screening + 10 hours interviewing</a:t>
            </a:r>
          </a:p>
          <a:p>
            <a:pPr>
              <a:defRPr sz="1800"/>
            </a:pPr>
            <a:r>
              <a:t>• Positions Filled: ~150/year (3x capacity)</a:t>
            </a:r>
          </a:p>
          <a:p>
            <a:pPr>
              <a:defRPr sz="1800"/>
            </a:pPr>
            <a:r>
              <a:t>• System Cost: $600/year (API + hosting)</a:t>
            </a:r>
          </a:p>
          <a:p>
            <a:pPr>
              <a:defRPr sz="1800"/>
            </a:pPr>
            <a:r>
              <a:t>• Total Annual Cost: ~$60,600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💰 Annual Savings: $139,400 (70% reduction)</a:t>
            </a:r>
          </a:p>
          <a:p>
            <a:pPr>
              <a:defRPr sz="1800"/>
            </a:pPr>
            <a:r>
              <a:t>💰 Payback Period: &lt; 1 week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Success Stories 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Case Study 1: Tech Startup (100 employees)</a:t>
            </a:r>
          </a:p>
          <a:p>
            <a:pPr>
              <a:defRPr sz="1800"/>
            </a:pPr>
            <a:r>
              <a:t>Challenge: 300 applications for 5 developer roles</a:t>
            </a:r>
          </a:p>
          <a:p>
            <a:pPr>
              <a:defRPr sz="1800"/>
            </a:pPr>
            <a:r>
              <a:t>Results:</a:t>
            </a:r>
          </a:p>
          <a:p>
            <a:pPr>
              <a:defRPr sz="1800"/>
            </a:pPr>
            <a:r>
              <a:t>  • Processed all 300 in 45 minutes</a:t>
            </a:r>
          </a:p>
          <a:p>
            <a:pPr>
              <a:defRPr sz="1800"/>
            </a:pPr>
            <a:r>
              <a:t>  • Identified 18 qualified candidates</a:t>
            </a:r>
          </a:p>
          <a:p>
            <a:pPr>
              <a:defRPr sz="1800"/>
            </a:pPr>
            <a:r>
              <a:t>  • Made 5 hires within 2 weeks</a:t>
            </a:r>
          </a:p>
          <a:p>
            <a:pPr>
              <a:defRPr sz="1800"/>
            </a:pPr>
            <a:r>
              <a:t>  • Saved 85 hours of HR time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Case Study 2: Mid-Size Company (500 employees)</a:t>
            </a:r>
          </a:p>
          <a:p>
            <a:pPr>
              <a:defRPr sz="1800"/>
            </a:pPr>
            <a:r>
              <a:t>Challenge: Inconsistent screening across recruiters</a:t>
            </a:r>
          </a:p>
          <a:p>
            <a:pPr>
              <a:defRPr sz="1800"/>
            </a:pPr>
            <a:r>
              <a:t>Results:</a:t>
            </a:r>
          </a:p>
          <a:p>
            <a:pPr>
              <a:defRPr sz="1800"/>
            </a:pPr>
            <a:r>
              <a:t>  • 40% improvement in hire quality</a:t>
            </a:r>
          </a:p>
          <a:p>
            <a:pPr>
              <a:defRPr sz="1800"/>
            </a:pPr>
            <a:r>
              <a:t>  • 95% consistency in evaluation</a:t>
            </a:r>
          </a:p>
          <a:p>
            <a:pPr>
              <a:defRPr sz="1800"/>
            </a:pPr>
            <a:r>
              <a:t>  • Time-to-hire: 45 days → 12 days</a:t>
            </a:r>
          </a:p>
          <a:p>
            <a:pPr>
              <a:defRPr sz="1800"/>
            </a:pPr>
            <a:r>
              <a:t>  • 3 recruiters handle workload of 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 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Phase 1: Enhanced Intelligence (Next 3 months)</a:t>
            </a:r>
          </a:p>
          <a:p>
            <a:pPr>
              <a:defRPr sz="1800"/>
            </a:pPr>
            <a:r>
              <a:t>  🎯 Skills gap analysis and training recommendations</a:t>
            </a:r>
          </a:p>
          <a:p>
            <a:pPr>
              <a:defRPr sz="1800"/>
            </a:pPr>
            <a:r>
              <a:t>  🎯 Salary band recommendations</a:t>
            </a:r>
          </a:p>
          <a:p>
            <a:pPr>
              <a:defRPr sz="1800"/>
            </a:pPr>
            <a:r>
              <a:t>  🎯 Culture fit assessment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Phase 2: Advanced Features</a:t>
            </a:r>
          </a:p>
          <a:p>
            <a:pPr>
              <a:defRPr sz="1800"/>
            </a:pPr>
            <a:r>
              <a:t>  📊 Analytics dashboard with hiring metrics</a:t>
            </a:r>
          </a:p>
          <a:p>
            <a:pPr>
              <a:defRPr sz="1800"/>
            </a:pPr>
            <a:r>
              <a:t>  🔗 LinkedIn/Indeed integration</a:t>
            </a:r>
          </a:p>
          <a:p>
            <a:pPr>
              <a:defRPr sz="1800"/>
            </a:pPr>
            <a:r>
              <a:t>  📱 Mobile app for candidates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Phase 3: Enterprise Scale</a:t>
            </a:r>
          </a:p>
          <a:p>
            <a:pPr>
              <a:defRPr sz="1800"/>
            </a:pPr>
            <a:r>
              <a:t>  🏢 Multi-tenant support</a:t>
            </a:r>
          </a:p>
          <a:p>
            <a:pPr>
              <a:defRPr sz="1800"/>
            </a:pPr>
            <a:r>
              <a:t>  🔐 Advanced RBAC</a:t>
            </a:r>
          </a:p>
          <a:p>
            <a:pPr>
              <a:defRPr sz="1800"/>
            </a:pPr>
            <a:r>
              <a:t>  🌐 Multi-language support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Phase 4: AI Evolution</a:t>
            </a:r>
          </a:p>
          <a:p>
            <a:pPr>
              <a:defRPr sz="1800"/>
            </a:pPr>
            <a:r>
              <a:t>  🧠 Fine-tuned models on company data</a:t>
            </a:r>
          </a:p>
          <a:p>
            <a:pPr>
              <a:defRPr sz="1800"/>
            </a:pPr>
            <a:r>
              <a:t>  🔄 Active learning from HR feedback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Plan 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Getting Started in 3 Days: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Day 1: Setup &amp; Configuration</a:t>
            </a:r>
          </a:p>
          <a:p>
            <a:pPr>
              <a:defRPr sz="1800"/>
            </a:pPr>
            <a:r>
              <a:t>  • Install dependencies</a:t>
            </a:r>
          </a:p>
          <a:p>
            <a:pPr>
              <a:defRPr sz="1800"/>
            </a:pPr>
            <a:r>
              <a:t>  • Configure Gemini API key</a:t>
            </a:r>
          </a:p>
          <a:p>
            <a:pPr>
              <a:defRPr sz="1800"/>
            </a:pPr>
            <a:r>
              <a:t>  • Set up email credentials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Day 2: Testing &amp; Training</a:t>
            </a:r>
          </a:p>
          <a:p>
            <a:pPr>
              <a:defRPr sz="1800"/>
            </a:pPr>
            <a:r>
              <a:t>  • Test with sample job descriptions</a:t>
            </a:r>
          </a:p>
          <a:p>
            <a:pPr>
              <a:defRPr sz="1800"/>
            </a:pPr>
            <a:r>
              <a:t>  • Upload test applications</a:t>
            </a:r>
          </a:p>
          <a:p>
            <a:pPr>
              <a:defRPr sz="1800"/>
            </a:pPr>
            <a:r>
              <a:t>  • Train HR team on interface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Day 3: Go Live</a:t>
            </a:r>
          </a:p>
          <a:p>
            <a:pPr>
              <a:defRPr sz="1800"/>
            </a:pPr>
            <a:r>
              <a:t>  • Launch for first real job posting</a:t>
            </a:r>
          </a:p>
          <a:p>
            <a:pPr>
              <a:defRPr sz="1800"/>
            </a:pPr>
            <a:r>
              <a:t>  • Monitor performance and gather feedback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Required: 1 DevOps engineer, 1 HR manager, Google Cloud account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Success Metrics &amp; KPIs 📊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Track These Metrics: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Efficiency Metrics:</a:t>
            </a:r>
          </a:p>
          <a:p>
            <a:pPr>
              <a:defRPr sz="1800"/>
            </a:pPr>
            <a:r>
              <a:t>  • Time-to-Shortlist (target: &lt; 1 hour)</a:t>
            </a:r>
          </a:p>
          <a:p>
            <a:pPr>
              <a:defRPr sz="1800"/>
            </a:pPr>
            <a:r>
              <a:t>  • Applications Processed per Day</a:t>
            </a:r>
          </a:p>
          <a:p>
            <a:pPr>
              <a:defRPr sz="1800"/>
            </a:pPr>
            <a:r>
              <a:t>  • Cost per Candidate Screened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Quality Metrics:</a:t>
            </a:r>
          </a:p>
          <a:p>
            <a:pPr>
              <a:defRPr sz="1800"/>
            </a:pPr>
            <a:r>
              <a:t>  • Screening Accuracy (vs. HR manual review)</a:t>
            </a:r>
          </a:p>
          <a:p>
            <a:pPr>
              <a:defRPr sz="1800"/>
            </a:pPr>
            <a:r>
              <a:t>  • Offer Acceptance Rate</a:t>
            </a:r>
          </a:p>
          <a:p>
            <a:pPr>
              <a:defRPr sz="1800"/>
            </a:pPr>
            <a:r>
              <a:t>  • New Hire Performance (90-day review)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Business Metrics:</a:t>
            </a:r>
          </a:p>
          <a:p>
            <a:pPr>
              <a:defRPr sz="1800"/>
            </a:pPr>
            <a:r>
              <a:t>  • Total Cost per Hire</a:t>
            </a:r>
          </a:p>
          <a:p>
            <a:pPr>
              <a:defRPr sz="1800"/>
            </a:pPr>
            <a:r>
              <a:t>  • Time-to-Hire (Days)</a:t>
            </a:r>
          </a:p>
          <a:p>
            <a:pPr>
              <a:defRPr sz="1800"/>
            </a:pPr>
            <a:r>
              <a:t>  • HR Team Productivity</a:t>
            </a:r>
          </a:p>
          <a:p>
            <a:pPr>
              <a:defRPr sz="1800"/>
            </a:pPr>
            <a:r>
              <a:t>  • Candidate Satisfaction Score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Management &amp; Mitigation 🛡️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Risk 1: AI Hallucination/Inaccuracy</a:t>
            </a:r>
          </a:p>
          <a:p>
            <a:pPr>
              <a:defRPr sz="1800"/>
            </a:pPr>
            <a:r>
              <a:t>  ✅ Strict prompt engineering with validation</a:t>
            </a:r>
          </a:p>
          <a:p>
            <a:pPr>
              <a:defRPr sz="1800"/>
            </a:pPr>
            <a:r>
              <a:t>  ✅ Human review for final decisions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Risk 2: API Downtime/Rate Limits</a:t>
            </a:r>
          </a:p>
          <a:p>
            <a:pPr>
              <a:defRPr sz="1800"/>
            </a:pPr>
            <a:r>
              <a:t>  ✅ Retry logic with exponential backoff</a:t>
            </a:r>
          </a:p>
          <a:p>
            <a:pPr>
              <a:defRPr sz="1800"/>
            </a:pPr>
            <a:r>
              <a:t>  ✅ Fallback to manual screening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Risk 3: Data Privacy Concerns</a:t>
            </a:r>
          </a:p>
          <a:p>
            <a:pPr>
              <a:defRPr sz="1800"/>
            </a:pPr>
            <a:r>
              <a:t>  ✅ Local data storage (not cloud)</a:t>
            </a:r>
          </a:p>
          <a:p>
            <a:pPr>
              <a:defRPr sz="1800"/>
            </a:pPr>
            <a:r>
              <a:t>  ✅ GDPR-compliant data deletion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Risk 4: Bias in AI Decisions</a:t>
            </a:r>
          </a:p>
          <a:p>
            <a:pPr>
              <a:defRPr sz="1800"/>
            </a:pPr>
            <a:r>
              <a:t>  ✅ Regular bias audits</a:t>
            </a:r>
          </a:p>
          <a:p>
            <a:pPr>
              <a:defRPr sz="1800"/>
            </a:pPr>
            <a:r>
              <a:t>  ✅ Transparent scoring criteria</a:t>
            </a:r>
          </a:p>
          <a:p>
            <a:pPr>
              <a:defRPr sz="1800"/>
            </a:pPr>
            <a:r>
              <a:t>  ✅ Human oversight required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Stakeholder Benefits 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For HR Teams:</a:t>
            </a:r>
          </a:p>
          <a:p>
            <a:pPr>
              <a:defRPr sz="1800"/>
            </a:pPr>
            <a:r>
              <a:t>  🎯 Focus on strategic work, not data entry</a:t>
            </a:r>
          </a:p>
          <a:p>
            <a:pPr>
              <a:defRPr sz="1800"/>
            </a:pPr>
            <a:r>
              <a:t>  📈 Handle 5x more requisitions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For Hiring Managers:</a:t>
            </a:r>
          </a:p>
          <a:p>
            <a:pPr>
              <a:defRPr sz="1800"/>
            </a:pPr>
            <a:r>
              <a:t>  ⚡ Faster access to qualified candidates</a:t>
            </a:r>
          </a:p>
          <a:p>
            <a:pPr>
              <a:defRPr sz="1800"/>
            </a:pPr>
            <a:r>
              <a:t>  🎯 Higher quality shortlists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For Candidates:</a:t>
            </a:r>
          </a:p>
          <a:p>
            <a:pPr>
              <a:defRPr sz="1800"/>
            </a:pPr>
            <a:r>
              <a:t>  🚀 Faster response times</a:t>
            </a:r>
          </a:p>
          <a:p>
            <a:pPr>
              <a:defRPr sz="1800"/>
            </a:pPr>
            <a:r>
              <a:t>  ⚖️ Fair, objective evaluation</a:t>
            </a:r>
          </a:p>
          <a:p>
            <a:pPr>
              <a:defRPr sz="1800"/>
            </a:pPr>
            <a:r>
              <a:t>  💚 Better candidate experience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For Executive Leadership:</a:t>
            </a:r>
          </a:p>
          <a:p>
            <a:pPr>
              <a:defRPr sz="1800"/>
            </a:pPr>
            <a:r>
              <a:t>  💰 Significant cost savings</a:t>
            </a:r>
          </a:p>
          <a:p>
            <a:pPr>
              <a:defRPr sz="1800"/>
            </a:pPr>
            <a:r>
              <a:t>  📈 Scalable recruitment operations</a:t>
            </a:r>
          </a:p>
          <a:p>
            <a:pPr>
              <a:defRPr sz="1800"/>
            </a:pPr>
            <a:r>
              <a:t>  🎯 Competitive advantage in talent acquisition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Questions 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Q: Can it replace human recruiters?</a:t>
            </a:r>
          </a:p>
          <a:p>
            <a:pPr>
              <a:defRPr sz="1800"/>
            </a:pPr>
            <a:r>
              <a:t>A: No, it augments them. AI handles volume, HR handles judgment.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Q: How accurate is the AI?</a:t>
            </a:r>
          </a:p>
          <a:p>
            <a:pPr>
              <a:defRPr sz="1800"/>
            </a:pPr>
            <a:r>
              <a:t>A: 90-95% in matching skills. Human review ensures 99%+ accuracy.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Q: What about data privacy?</a:t>
            </a:r>
          </a:p>
          <a:p>
            <a:pPr>
              <a:defRPr sz="1800"/>
            </a:pPr>
            <a:r>
              <a:t>A: All data stored locally. No third-party sharing. GDPR compliant.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Q: Can we customize scoring criteria?</a:t>
            </a:r>
          </a:p>
          <a:p>
            <a:pPr>
              <a:defRPr sz="1800"/>
            </a:pPr>
            <a:r>
              <a:t>A: Yes! Edit prompts to match your company's hiring priorities.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Q: Integration with existing ATS?</a:t>
            </a:r>
          </a:p>
          <a:p>
            <a:pPr>
              <a:defRPr sz="1800"/>
            </a:pPr>
            <a:r>
              <a:t>A: RESTful API makes integration straightforward.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 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For Pilot Program: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1. ✅ Schedule technical deep-dive (1 hour)</a:t>
            </a:r>
          </a:p>
          <a:p>
            <a:pPr>
              <a:defRPr sz="1800"/>
            </a:pPr>
            <a:r>
              <a:t>2. ✅ Identify 2-3 active job requisitions for testing</a:t>
            </a:r>
          </a:p>
          <a:p>
            <a:pPr>
              <a:defRPr sz="1800"/>
            </a:pPr>
            <a:r>
              <a:t>3. ✅ Set up development environment (1 day)</a:t>
            </a:r>
          </a:p>
          <a:p>
            <a:pPr>
              <a:defRPr sz="1800"/>
            </a:pPr>
            <a:r>
              <a:t>4. ✅ Run pilot with real data (2 weeks)</a:t>
            </a:r>
          </a:p>
          <a:p>
            <a:pPr>
              <a:defRPr sz="1800"/>
            </a:pPr>
            <a:r>
              <a:t>5. ✅ Evaluate results and iterate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Success Criteria:</a:t>
            </a:r>
          </a:p>
          <a:p>
            <a:pPr>
              <a:defRPr sz="1800"/>
            </a:pPr>
            <a:r>
              <a:t>  • Process 50+ applications</a:t>
            </a:r>
          </a:p>
          <a:p>
            <a:pPr>
              <a:defRPr sz="1800"/>
            </a:pPr>
            <a:r>
              <a:t>  • Achieve 85%+ accuracy</a:t>
            </a:r>
          </a:p>
          <a:p>
            <a:pPr>
              <a:defRPr sz="1800"/>
            </a:pPr>
            <a:r>
              <a:t>  • Save 15+ hours of HR time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Timeline: 4 weeks from approval to decision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Let's revolutionize your recruitment process!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You! 🙏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Questions?</a:t>
            </a:r>
          </a:p>
          <a:p/>
          <a:p>
            <a:r>
              <a:t>Let's discuss how Agentic AI can transform</a:t>
            </a:r>
          </a:p>
          <a:p>
            <a:r>
              <a:t>your recruitment operations.</a:t>
            </a:r>
          </a:p>
          <a:p/>
          <a:p>
            <a:r>
              <a:t>🚀 Ready to get started?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